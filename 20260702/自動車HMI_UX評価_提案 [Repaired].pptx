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5"/>
          <p:cNvSpPr/>
          <p:nvPr/>
        </p:nvSpPr>
        <p:spPr>
          <a:xfrm>
            <a:off x="0" y="4160520"/>
            <a:ext cx="12192000" cy="635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9"/>
          <p:cNvSpPr/>
          <p:nvPr/>
        </p:nvSpPr>
        <p:spPr>
          <a:xfrm>
            <a:off x="502920" y="1554480"/>
            <a:ext cx="219456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11"/>
          <p:cNvSpPr txBox="1"/>
          <p:nvPr/>
        </p:nvSpPr>
        <p:spPr>
          <a:xfrm>
            <a:off x="822960" y="178308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44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自動車HMIのUX評価方法</a:t>
            </a:r>
          </a:p>
        </p:txBody>
      </p:sp>
      <p:sp>
        <p:nvSpPr>
          <p:cNvPr id="12" name="t13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2400" b="0" dirty="0">
                <a:solidFill>
                  <a:srgbClr val="CFDDF2"/>
                </a:solidFill>
                <a:latin typeface="Meiryo"/>
                <a:ea typeface="Meiryo"/>
                <a:cs typeface="Meiryo"/>
              </a:rPr>
              <a:t>生理指標に基づくマルチモーダル評価フレームワーク</a:t>
            </a:r>
          </a:p>
        </p:txBody>
      </p:sp>
      <p:sp>
        <p:nvSpPr>
          <p:cNvPr id="14" name="t15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1600" b="0" dirty="0">
                <a:solidFill>
                  <a:srgbClr val="ADC2E0"/>
                </a:solidFill>
                <a:latin typeface="Meiryo"/>
                <a:ea typeface="Meiryo"/>
                <a:cs typeface="Meiryo"/>
              </a:rPr>
              <a:t>主観評価 ＋ 生理指標 ＋ 行動/性能指標 の統合による客観的UX評価</a:t>
            </a:r>
          </a:p>
        </p:txBody>
      </p:sp>
      <p:sp>
        <p:nvSpPr>
          <p:cNvPr id="16" name="t1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1300" b="0" dirty="0">
                <a:solidFill>
                  <a:srgbClr val="8FA6C8"/>
                </a:solidFill>
                <a:latin typeface="Meiryo"/>
                <a:ea typeface="Meiryo"/>
                <a:cs typeface="Meiryo"/>
              </a:rPr>
              <a:t>全34文献（01〜38）に基づく提案　|　2026-07-02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2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23"/>
          <p:cNvSpPr txBox="1"/>
          <p:nvPr/>
        </p:nvSpPr>
        <p:spPr>
          <a:xfrm>
            <a:off x="457200" y="64008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4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目次</a:t>
            </a:r>
          </a:p>
        </p:txBody>
      </p:sp>
      <p:sp>
        <p:nvSpPr>
          <p:cNvPr id="24" name="t25"/>
          <p:cNvSpPr txBox="1"/>
          <p:nvPr/>
        </p:nvSpPr>
        <p:spPr>
          <a:xfrm>
            <a:off x="457200" y="16916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1500" b="1" dirty="0">
                <a:solidFill>
                  <a:srgbClr val="E87A1E"/>
                </a:solidFill>
                <a:latin typeface="Meiryo"/>
                <a:ea typeface="Meiryo"/>
                <a:cs typeface="Meiryo"/>
              </a:rPr>
              <a:t>AGENDA</a:t>
            </a:r>
          </a:p>
        </p:txBody>
      </p:sp>
      <p:sp>
        <p:nvSpPr>
          <p:cNvPr id="26" name="t27"/>
          <p:cNvSpPr txBox="1"/>
          <p:nvPr/>
        </p:nvSpPr>
        <p:spPr>
          <a:xfrm>
            <a:off x="4480560" y="685800"/>
            <a:ext cx="7315200" cy="5486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1. 提案の背景と狙い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2. 評価の3層モデル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3. 推奨する生理指標と役割分担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4. ポジティブ感情（うれしさ・驚き）の評価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5. 評価シナリオ設計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6. 指標の解釈ルール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7. 評価プロトコル（手順）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8. センサ機材（非接触・低負担）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9. 実験計画と統計解析</a:t>
            </a:r>
          </a:p>
          <a:p>
            <a:pPr algn="l">
              <a:spcAft>
                <a:spcPts val="1200"/>
              </a:spcAft>
            </a:pPr>
            <a:r>
              <a:rPr lang="ja-JP" sz="2000" b="1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10. まとめ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r31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33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35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37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38" name="t39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提案の背景と狙い</a:t>
            </a:r>
          </a:p>
        </p:txBody>
      </p:sp>
      <p:sp>
        <p:nvSpPr>
          <p:cNvPr id="40" name="t41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なぜ生理指標によるマルチモーダル評価が必要か</a:t>
            </a:r>
          </a:p>
        </p:txBody>
      </p:sp>
      <p:sp>
        <p:nvSpPr>
          <p:cNvPr id="42" name="t43"/>
          <p:cNvSpPr txBox="1"/>
          <p:nvPr/>
        </p:nvSpPr>
        <p:spPr>
          <a:xfrm>
            <a:off x="548640" y="1371600"/>
            <a:ext cx="649224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7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課題：自動車HMIは認知資源を奪う要素が増大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5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5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IVI・メーター・音声/タッチ操作・自動運転テイクオーバー [11]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7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課題：主観評価だけでは限界がある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5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5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運転中の無意識的・非言語的な負荷やストレスを捉えきれない [01][03]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7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700" b="1" dirty="0">
                <a:solidFill>
                  <a:srgbClr val="E87A1E"/>
                </a:solidFill>
                <a:latin typeface="Meiryo"/>
                <a:ea typeface="Meiryo"/>
                <a:cs typeface="Meiryo"/>
              </a:rPr>
              <a:t>提案：3種の指標を統合したマルチモーダルUX評価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5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5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主観評価 ＋ 生理指標 ＋ 行動/性能指標 [01][15]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5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5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製品設計で確立した「生理データによるUX定量化」を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ja-JP" sz="15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5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自動車HMIに特化して再構成 [01][15]</a:t>
            </a:r>
          </a:p>
        </p:txBody>
      </p:sp>
      <p:sp>
        <p:nvSpPr>
          <p:cNvPr id="44" name="r45"/>
          <p:cNvSpPr/>
          <p:nvPr/>
        </p:nvSpPr>
        <p:spPr>
          <a:xfrm>
            <a:off x="7315200" y="1463040"/>
            <a:ext cx="4297680" cy="448056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47"/>
          <p:cNvSpPr txBox="1"/>
          <p:nvPr/>
        </p:nvSpPr>
        <p:spPr>
          <a:xfrm>
            <a:off x="7315200" y="16002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ctr"/>
            <a:r>
              <a:rPr lang="ja-JP" sz="15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統合評価のイメージ</a:t>
            </a:r>
          </a:p>
        </p:txBody>
      </p:sp>
      <p:sp>
        <p:nvSpPr>
          <p:cNvPr id="48" name="t49"/>
          <p:cNvSpPr txBox="1"/>
          <p:nvPr/>
        </p:nvSpPr>
        <p:spPr>
          <a:xfrm>
            <a:off x="7680960" y="2240280"/>
            <a:ext cx="3566160" cy="914400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主観評価</a:t>
            </a:r>
          </a:p>
          <a:p>
            <a:pPr algn="ctr"/>
            <a:r>
              <a:rPr lang="ja-JP" sz="1100" b="0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SUS/UEQ/NASA-TLX</a:t>
            </a:r>
          </a:p>
        </p:txBody>
      </p:sp>
      <p:sp>
        <p:nvSpPr>
          <p:cNvPr id="50" name="t51"/>
          <p:cNvSpPr txBox="1"/>
          <p:nvPr/>
        </p:nvSpPr>
        <p:spPr>
          <a:xfrm>
            <a:off x="7680960" y="3383280"/>
            <a:ext cx="3566160" cy="914400"/>
          </a:xfrm>
          <a:prstGeom prst="rect">
            <a:avLst/>
          </a:prstGeom>
          <a:solidFill>
            <a:srgbClr val="1B9E8C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生理指標</a:t>
            </a:r>
          </a:p>
          <a:p>
            <a:pPr algn="ctr"/>
            <a:r>
              <a:rPr lang="ja-JP" sz="1100" b="0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HRV/EDA/視線/表情</a:t>
            </a:r>
          </a:p>
        </p:txBody>
      </p:sp>
      <p:sp>
        <p:nvSpPr>
          <p:cNvPr id="52" name="t53"/>
          <p:cNvSpPr txBox="1"/>
          <p:nvPr/>
        </p:nvSpPr>
        <p:spPr>
          <a:xfrm>
            <a:off x="7680960" y="4526280"/>
            <a:ext cx="3566160" cy="9144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行動/性能</a:t>
            </a:r>
          </a:p>
          <a:p>
            <a:pPr algn="ctr"/>
            <a:r>
              <a:rPr lang="ja-JP" sz="1100" b="0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操作時間/逸脱/視線逸れ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r57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r59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r61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63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64" name="t65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評価の3層モデル（トライアンギュレーション）</a:t>
            </a:r>
          </a:p>
        </p:txBody>
      </p:sp>
      <p:sp>
        <p:nvSpPr>
          <p:cNvPr id="66" name="t67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UXは単一指標では捉えられない → 3層を組み合わせる</a:t>
            </a:r>
          </a:p>
        </p:txBody>
      </p:sp>
      <p:graphicFrame>
        <p:nvGraphicFramePr>
          <p:cNvPr id="68" name="tbl69"/>
          <p:cNvGraphicFramePr/>
          <p:nvPr/>
        </p:nvGraphicFramePr>
        <p:xfrm>
          <a:off x="548640" y="1417320"/>
          <a:ext cx="11064238" cy="2633472"/>
        </p:xfrm>
        <a:graphic>
          <a:graphicData uri="http://schemas.openxmlformats.org/drawingml/2006/table">
            <a:tbl>
              <a:tblPr firstRow="1" bandRow="1"/>
              <a:tblGrid>
                <a:gridCol w="146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89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8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lang="ja-JP" sz="14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層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4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測るもの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4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主な指標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4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根拠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① 生理層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自律神経・情動・認知負荷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HRV(RMSSD/SDNN)、EDA/GSR、瞳孔、表情筋EMG、EEG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[01][03][11][21][23]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② 行動/性能層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運転・タスク成績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テイクオーバー時間、逸脱、操作時間、視線逸れ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[12][14][16]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③ 主観層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体験の自己申告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SUS、UEQ、NASA-TLX、VRNQ 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3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[05][09][15]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" name="r71"/>
          <p:cNvSpPr/>
          <p:nvPr/>
        </p:nvSpPr>
        <p:spPr>
          <a:xfrm>
            <a:off x="548640" y="4343400"/>
            <a:ext cx="11064240" cy="169164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73"/>
          <p:cNvSpPr txBox="1"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1700" b="1" dirty="0">
                <a:solidFill>
                  <a:srgbClr val="E87A1E"/>
                </a:solidFill>
                <a:latin typeface="Meiryo"/>
                <a:ea typeface="Meiryo"/>
                <a:cs typeface="Meiryo"/>
              </a:rPr>
              <a:t>設計原則</a:t>
            </a:r>
          </a:p>
        </p:txBody>
      </p:sp>
      <p:sp>
        <p:nvSpPr>
          <p:cNvPr id="74" name="t75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ja-JP" sz="16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6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主観と生理指標が一致したときに結論の妥当性が高まる [26][09]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lang="ja-JP" sz="14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4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RCTでの「有効性 × UX両立」の実証を根拠とする [09]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r79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r81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r83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t85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86" name="t87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推奨する生理指標と役割分担</a:t>
            </a:r>
          </a:p>
        </p:txBody>
      </p:sp>
      <p:sp>
        <p:nvSpPr>
          <p:cNvPr id="88" name="t89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目的（負荷／情動／注意）に応じて選び、単一でなく併用する</a:t>
            </a:r>
          </a:p>
        </p:txBody>
      </p:sp>
      <p:graphicFrame>
        <p:nvGraphicFramePr>
          <p:cNvPr id="90" name="tbl91"/>
          <p:cNvGraphicFramePr/>
          <p:nvPr/>
        </p:nvGraphicFramePr>
        <p:xfrm>
          <a:off x="548640" y="1417320"/>
          <a:ext cx="11064237" cy="4498848"/>
        </p:xfrm>
        <a:graphic>
          <a:graphicData uri="http://schemas.openxmlformats.org/drawingml/2006/table">
            <a:tbl>
              <a:tblPr firstRow="1" bandRow="1"/>
              <a:tblGrid>
                <a:gridCol w="1928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8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86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指標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測るもの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役割・特徴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根拠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HRV(RMSSD/SDNN)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ストレス・作業負荷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中核指標。RMSSD=副交感/短時間、SDNN=総合/長窓。感度は文脈依存で単独依存は禁物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[02][03][04][05][10][11]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EDA / GSR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情動的覚醒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導入容易な実務的第一選択。負荷の急変を捉える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[23][27][01]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眼球運動・瞳孔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視覚的注意・認知負荷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「どこで迷うか」を特定。前方注意逸れの評価に直結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[17][25][27][29]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表情筋EMG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情動価（快/不快）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苛立ち・フラストレーションを高感度に検出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[24][28]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EEG（任意）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認知負荷・注意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精緻だがセットアップ複雑。シミュレータ精査時のオプション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[21][24]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4" name="r95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r97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r99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101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02" name="t103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ポジティブ感情（うれしさ・驚き）の評価</a:t>
            </a:r>
          </a:p>
        </p:txBody>
      </p:sp>
      <p:sp>
        <p:nvSpPr>
          <p:cNvPr id="104" name="t105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ネガティブ抑制だけでなく「積極的に良い体験」を測る</a:t>
            </a:r>
          </a:p>
        </p:txBody>
      </p:sp>
      <p:sp>
        <p:nvSpPr>
          <p:cNvPr id="106" name="t107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15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感情を〔感情価：快−不快〕×〔覚醒：高−低〕の2次元で捉える [33]</a:t>
            </a:r>
          </a:p>
        </p:txBody>
      </p:sp>
      <p:graphicFrame>
        <p:nvGraphicFramePr>
          <p:cNvPr id="108" name="tbl109"/>
          <p:cNvGraphicFramePr/>
          <p:nvPr/>
        </p:nvGraphicFramePr>
        <p:xfrm>
          <a:off x="548640" y="1737360"/>
          <a:ext cx="11064237" cy="2560320"/>
        </p:xfrm>
        <a:graphic>
          <a:graphicData uri="http://schemas.openxmlformats.org/drawingml/2006/table">
            <a:tbl>
              <a:tblPr firstRow="1" bandRow="1"/>
              <a:tblGrid>
                <a:gridCol w="225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2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5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感情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感情価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覚醒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主な計測サイン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根拠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うれしさ/満足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高（快）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中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大頬骨筋EMG↑ / 表情AU6・12（笑顔）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[34][35][36][38]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嬉しい驚き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高（快）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高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EDA急上昇 ＋ 笑筋↑ ＋ AU1/2/5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[32][33][37]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ネガティブな驚き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低（不快）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EDA急上昇 ＋ 皺眉筋↑ ＋ AU4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[32][33]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不快/フラストレーション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低（不快）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中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皺眉筋EMG↑ / 表情AU4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[24][33]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r111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113"/>
          <p:cNvSpPr txBox="1"/>
          <p:nvPr/>
        </p:nvSpPr>
        <p:spPr>
          <a:xfrm>
            <a:off x="777240" y="4645152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/>
            <a:r>
              <a:rPr lang="ja-JP" sz="1500" b="1" dirty="0">
                <a:solidFill>
                  <a:srgbClr val="E87A1E"/>
                </a:solidFill>
                <a:latin typeface="Meiryo"/>
                <a:ea typeface="Meiryo"/>
                <a:cs typeface="Meiryo"/>
              </a:rPr>
              <a:t>低負担での計測（非接触重視）</a:t>
            </a:r>
          </a:p>
        </p:txBody>
      </p:sp>
      <p:sp>
        <p:nvSpPr>
          <p:cNvPr id="114" name="t115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4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4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感情価 → カメラ表情解析（AU6/12＝笑顔, AU4＝不快）で非接触計測 [33][37]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4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4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覚醒・驚き → EDAの位相性反応 ＋ 表情AU1/2/5。表情筋EMGはメガネ型で代替可 [36]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r119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r121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r123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125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26" name="t127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評価シナリオ設計</a:t>
            </a:r>
          </a:p>
        </p:txBody>
      </p:sp>
      <p:sp>
        <p:nvSpPr>
          <p:cNvPr id="128" name="t129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UXの良し悪しは「条件間の差」で判断する</a:t>
            </a:r>
          </a:p>
        </p:txBody>
      </p:sp>
      <p:sp>
        <p:nvSpPr>
          <p:cNvPr id="130" name="r131"/>
          <p:cNvSpPr/>
          <p:nvPr/>
        </p:nvSpPr>
        <p:spPr>
          <a:xfrm>
            <a:off x="548640" y="146304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C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r133"/>
          <p:cNvSpPr/>
          <p:nvPr/>
        </p:nvSpPr>
        <p:spPr>
          <a:xfrm>
            <a:off x="548640" y="1463040"/>
            <a:ext cx="3566160" cy="566928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4" name="t135"/>
          <p:cNvSpPr txBox="1"/>
          <p:nvPr/>
        </p:nvSpPr>
        <p:spPr>
          <a:xfrm>
            <a:off x="548640" y="146304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 HMI様式の比較</a:t>
            </a:r>
          </a:p>
        </p:txBody>
      </p:sp>
      <p:sp>
        <p:nvSpPr>
          <p:cNvPr id="136" name="t137"/>
          <p:cNvSpPr txBox="1"/>
          <p:nvPr/>
        </p:nvSpPr>
        <p:spPr>
          <a:xfrm>
            <a:off x="685800" y="2176272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4999"/>
              </a:lnSpc>
            </a:pP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音声 vs タッチ vs 物理ボタン。最適解はタスク・文脈依存 [12][16]</a:t>
            </a:r>
          </a:p>
        </p:txBody>
      </p:sp>
      <p:sp>
        <p:nvSpPr>
          <p:cNvPr id="138" name="r139"/>
          <p:cNvSpPr/>
          <p:nvPr/>
        </p:nvSpPr>
        <p:spPr>
          <a:xfrm>
            <a:off x="4315968" y="146304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E8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0" name="r141"/>
          <p:cNvSpPr/>
          <p:nvPr/>
        </p:nvSpPr>
        <p:spPr>
          <a:xfrm>
            <a:off x="4315968" y="1463040"/>
            <a:ext cx="3566160" cy="566928"/>
          </a:xfrm>
          <a:prstGeom prst="rect">
            <a:avLst/>
          </a:prstGeom>
          <a:solidFill>
            <a:srgbClr val="1B9E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2" name="t143"/>
          <p:cNvSpPr txBox="1"/>
          <p:nvPr/>
        </p:nvSpPr>
        <p:spPr>
          <a:xfrm>
            <a:off x="4315968" y="146304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 通常 vs 高負荷/緊急</a:t>
            </a:r>
          </a:p>
        </p:txBody>
      </p:sp>
      <p:sp>
        <p:nvSpPr>
          <p:cNvPr id="144" name="t145"/>
          <p:cNvSpPr txBox="1"/>
          <p:nvPr/>
        </p:nvSpPr>
        <p:spPr>
          <a:xfrm>
            <a:off x="4453128" y="2176272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4999"/>
              </a:lnSpc>
            </a:pP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難易度差で生理反応の弁別力を確認 [05]</a:t>
            </a:r>
          </a:p>
        </p:txBody>
      </p:sp>
      <p:sp>
        <p:nvSpPr>
          <p:cNvPr id="146" name="r147"/>
          <p:cNvSpPr/>
          <p:nvPr/>
        </p:nvSpPr>
        <p:spPr>
          <a:xfrm>
            <a:off x="8083296" y="146304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r149"/>
          <p:cNvSpPr/>
          <p:nvPr/>
        </p:nvSpPr>
        <p:spPr>
          <a:xfrm>
            <a:off x="8083296" y="1463040"/>
            <a:ext cx="3566160" cy="5669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0" name="t151"/>
          <p:cNvSpPr txBox="1"/>
          <p:nvPr/>
        </p:nvSpPr>
        <p:spPr>
          <a:xfrm>
            <a:off x="8083296" y="146304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 自動運転テイクオーバー</a:t>
            </a:r>
          </a:p>
        </p:txBody>
      </p:sp>
      <p:sp>
        <p:nvSpPr>
          <p:cNvPr id="152" name="t153"/>
          <p:cNvSpPr txBox="1"/>
          <p:nvPr/>
        </p:nvSpPr>
        <p:spPr>
          <a:xfrm>
            <a:off x="8220456" y="2176272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4999"/>
              </a:lnSpc>
            </a:pP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引き継ぎ性能を予測できるHRV指標を選定 [14]</a:t>
            </a:r>
          </a:p>
        </p:txBody>
      </p:sp>
      <p:sp>
        <p:nvSpPr>
          <p:cNvPr id="154" name="r155"/>
          <p:cNvSpPr/>
          <p:nvPr/>
        </p:nvSpPr>
        <p:spPr>
          <a:xfrm>
            <a:off x="548640" y="379476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5EA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6" name="r157"/>
          <p:cNvSpPr/>
          <p:nvPr/>
        </p:nvSpPr>
        <p:spPr>
          <a:xfrm>
            <a:off x="548640" y="3794760"/>
            <a:ext cx="3566160" cy="566928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8" name="t159"/>
          <p:cNvSpPr txBox="1"/>
          <p:nvPr/>
        </p:nvSpPr>
        <p:spPr>
          <a:xfrm>
            <a:off x="548640" y="379476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 混合プロトタイピング</a:t>
            </a:r>
          </a:p>
        </p:txBody>
      </p:sp>
      <p:sp>
        <p:nvSpPr>
          <p:cNvPr id="160" name="t161"/>
          <p:cNvSpPr txBox="1"/>
          <p:nvPr/>
        </p:nvSpPr>
        <p:spPr>
          <a:xfrm>
            <a:off x="685800" y="4507992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4999"/>
              </a:lnSpc>
            </a:pP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VR/モックアップで安価に早期評価 [01]</a:t>
            </a:r>
          </a:p>
        </p:txBody>
      </p:sp>
      <p:sp>
        <p:nvSpPr>
          <p:cNvPr id="162" name="r163"/>
          <p:cNvSpPr/>
          <p:nvPr/>
        </p:nvSpPr>
        <p:spPr>
          <a:xfrm>
            <a:off x="4315968" y="379476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4A6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4" name="r165"/>
          <p:cNvSpPr/>
          <p:nvPr/>
        </p:nvSpPr>
        <p:spPr>
          <a:xfrm>
            <a:off x="4315968" y="3794760"/>
            <a:ext cx="3566160" cy="566928"/>
          </a:xfrm>
          <a:prstGeom prst="rect">
            <a:avLst/>
          </a:prstGeom>
          <a:solidFill>
            <a:srgbClr val="C04A6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6" name="t167"/>
          <p:cNvSpPr txBox="1"/>
          <p:nvPr/>
        </p:nvSpPr>
        <p:spPr>
          <a:xfrm>
            <a:off x="4315968" y="379476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⑤ ポジティブ感情の喚起</a:t>
            </a:r>
          </a:p>
        </p:txBody>
      </p:sp>
      <p:sp>
        <p:nvSpPr>
          <p:cNvPr id="168" name="t169"/>
          <p:cNvSpPr txBox="1"/>
          <p:nvPr/>
        </p:nvSpPr>
        <p:spPr>
          <a:xfrm>
            <a:off x="4453128" y="4507992"/>
            <a:ext cx="329184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4999"/>
              </a:lnSpc>
            </a:pP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サプライズ機能等でうれしさ・驚きを引き出し評価 [31][37]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1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2" name="r173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4" name="r175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6" name="r177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8" name="t179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180" name="t181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指標の解釈ルール（UXの良し悪しの判定）</a:t>
            </a:r>
          </a:p>
        </p:txBody>
      </p:sp>
      <p:sp>
        <p:nvSpPr>
          <p:cNvPr id="182" name="t183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観測された生理・行動反応をどう読むか</a:t>
            </a:r>
          </a:p>
        </p:txBody>
      </p:sp>
      <p:graphicFrame>
        <p:nvGraphicFramePr>
          <p:cNvPr id="184" name="tbl185"/>
          <p:cNvGraphicFramePr/>
          <p:nvPr/>
        </p:nvGraphicFramePr>
        <p:xfrm>
          <a:off x="548640" y="1371600"/>
          <a:ext cx="11064239" cy="3657600"/>
        </p:xfrm>
        <a:graphic>
          <a:graphicData uri="http://schemas.openxmlformats.org/drawingml/2006/table">
            <a:tbl>
              <a:tblPr firstRow="1" bandRow="1"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解釈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5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根拠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RMSSD/SDNN 低下・HR上昇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負荷/ストレス増（UX悪化の兆候）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[03][04][05][11]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RMSSD/HRV 維持・上昇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低負荷/快適（良好UX）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[04][06][09]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EDA上昇スパイク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情動的覚醒・驚き/ストレス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[23][27]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注視分散・長い探索・前方逸れ増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UIの分かりにくさ/混乱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[25][29]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笑筋EMG↑ / 表情AU6・12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うれしさ・満足（良好UX）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[34][35][36][38]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EDA急上昇＋眉上げ(AU1/2/5)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驚き（感情価は笑筋/皺眉筋で判別）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[32][33][37]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主観(SUS/NASA-TLX)と生理が一致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結論の妥当性が高い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[09][26]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6" name="t187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sz="13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▶ 良好なHMI＝同一タスクを、より低い生理的負荷・短い視覚探索・高い主観満足で完了できる設計。さらに適切な場面でうれしさ・驚きを喚起できる設計 [05][31][37]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1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0" name="r191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2" name="r193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4" name="r195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6" name="t197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198" name="t199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提案する評価プロトコル（手順）</a:t>
            </a:r>
          </a:p>
        </p:txBody>
      </p:sp>
      <p:sp>
        <p:nvSpPr>
          <p:cNvPr id="200" name="t201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目的定義から設計改善までの反復サイクル</a:t>
            </a:r>
          </a:p>
        </p:txBody>
      </p:sp>
      <p:sp>
        <p:nvSpPr>
          <p:cNvPr id="202" name="r203"/>
          <p:cNvSpPr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205"/>
          <p:cNvSpPr txBox="1"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06" name="t207"/>
          <p:cNvSpPr txBox="1"/>
          <p:nvPr/>
        </p:nvSpPr>
        <p:spPr>
          <a:xfrm>
            <a:off x="1417320" y="141732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目的定義とKPI設定</a:t>
            </a:r>
          </a:p>
        </p:txBody>
      </p:sp>
      <p:sp>
        <p:nvSpPr>
          <p:cNvPr id="208" name="t209"/>
          <p:cNvSpPr txBox="1"/>
          <p:nvPr/>
        </p:nvSpPr>
        <p:spPr>
          <a:xfrm>
            <a:off x="5212080" y="1417320"/>
            <a:ext cx="658368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40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負荷低減/注意保持/情動満足のどれを重視するか [15][17]</a:t>
            </a:r>
          </a:p>
        </p:txBody>
      </p:sp>
      <p:sp>
        <p:nvSpPr>
          <p:cNvPr id="210" name="r211"/>
          <p:cNvSpPr/>
          <p:nvPr/>
        </p:nvSpPr>
        <p:spPr>
          <a:xfrm>
            <a:off x="914400" y="1984248"/>
            <a:ext cx="31750" cy="256032"/>
          </a:xfrm>
          <a:prstGeom prst="rect">
            <a:avLst/>
          </a:prstGeom>
          <a:solidFill>
            <a:srgbClr val="C7D0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r213"/>
          <p:cNvSpPr/>
          <p:nvPr/>
        </p:nvSpPr>
        <p:spPr>
          <a:xfrm>
            <a:off x="640080" y="2240280"/>
            <a:ext cx="566928" cy="566928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215"/>
          <p:cNvSpPr txBox="1"/>
          <p:nvPr/>
        </p:nvSpPr>
        <p:spPr>
          <a:xfrm>
            <a:off x="640080" y="22402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16" name="t217"/>
          <p:cNvSpPr txBox="1"/>
          <p:nvPr/>
        </p:nvSpPr>
        <p:spPr>
          <a:xfrm>
            <a:off x="1417320" y="224028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ベースライン取得</a:t>
            </a:r>
          </a:p>
        </p:txBody>
      </p:sp>
      <p:sp>
        <p:nvSpPr>
          <p:cNvPr id="218" name="t219"/>
          <p:cNvSpPr txBox="1"/>
          <p:nvPr/>
        </p:nvSpPr>
        <p:spPr>
          <a:xfrm>
            <a:off x="5212080" y="2240280"/>
            <a:ext cx="658368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40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安静時のHRV/EDA基準値を測定（個人差補正）[10]</a:t>
            </a:r>
          </a:p>
        </p:txBody>
      </p:sp>
      <p:sp>
        <p:nvSpPr>
          <p:cNvPr id="220" name="r221"/>
          <p:cNvSpPr/>
          <p:nvPr/>
        </p:nvSpPr>
        <p:spPr>
          <a:xfrm>
            <a:off x="914400" y="2807208"/>
            <a:ext cx="31750" cy="256032"/>
          </a:xfrm>
          <a:prstGeom prst="rect">
            <a:avLst/>
          </a:prstGeom>
          <a:solidFill>
            <a:srgbClr val="C7D0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r223"/>
          <p:cNvSpPr/>
          <p:nvPr/>
        </p:nvSpPr>
        <p:spPr>
          <a:xfrm>
            <a:off x="640080" y="3063240"/>
            <a:ext cx="566928" cy="566928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t225"/>
          <p:cNvSpPr txBox="1"/>
          <p:nvPr/>
        </p:nvSpPr>
        <p:spPr>
          <a:xfrm>
            <a:off x="640080" y="3063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26" name="t227"/>
          <p:cNvSpPr txBox="1"/>
          <p:nvPr/>
        </p:nvSpPr>
        <p:spPr>
          <a:xfrm>
            <a:off x="1417320" y="306324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条件付き実験</a:t>
            </a:r>
          </a:p>
        </p:txBody>
      </p:sp>
      <p:sp>
        <p:nvSpPr>
          <p:cNvPr id="228" name="t229"/>
          <p:cNvSpPr txBox="1"/>
          <p:nvPr/>
        </p:nvSpPr>
        <p:spPr>
          <a:xfrm>
            <a:off x="5212080" y="3063240"/>
            <a:ext cx="658368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40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シナリオで生理＋行動＋主観を同期取得 [02][05]</a:t>
            </a:r>
          </a:p>
        </p:txBody>
      </p:sp>
      <p:sp>
        <p:nvSpPr>
          <p:cNvPr id="230" name="r231"/>
          <p:cNvSpPr/>
          <p:nvPr/>
        </p:nvSpPr>
        <p:spPr>
          <a:xfrm>
            <a:off x="914400" y="3630168"/>
            <a:ext cx="31750" cy="256032"/>
          </a:xfrm>
          <a:prstGeom prst="rect">
            <a:avLst/>
          </a:prstGeom>
          <a:solidFill>
            <a:srgbClr val="C7D0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r233"/>
          <p:cNvSpPr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t235"/>
          <p:cNvSpPr txBox="1"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36" name="t237"/>
          <p:cNvSpPr txBox="1"/>
          <p:nvPr/>
        </p:nvSpPr>
        <p:spPr>
          <a:xfrm>
            <a:off x="1417320" y="388620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前処理・特徴量抽出</a:t>
            </a:r>
          </a:p>
        </p:txBody>
      </p:sp>
      <p:sp>
        <p:nvSpPr>
          <p:cNvPr id="238" name="t239"/>
          <p:cNvSpPr txBox="1"/>
          <p:nvPr/>
        </p:nvSpPr>
        <p:spPr>
          <a:xfrm>
            <a:off x="5212080" y="3886200"/>
            <a:ext cx="658368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40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RMSSD/SDNN、EDA位相成分、注視指標、EMG [10][11]</a:t>
            </a:r>
          </a:p>
        </p:txBody>
      </p:sp>
      <p:sp>
        <p:nvSpPr>
          <p:cNvPr id="240" name="r241"/>
          <p:cNvSpPr/>
          <p:nvPr/>
        </p:nvSpPr>
        <p:spPr>
          <a:xfrm>
            <a:off x="914400" y="4453128"/>
            <a:ext cx="31750" cy="256032"/>
          </a:xfrm>
          <a:prstGeom prst="rect">
            <a:avLst/>
          </a:prstGeom>
          <a:solidFill>
            <a:srgbClr val="C7D0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r243"/>
          <p:cNvSpPr/>
          <p:nvPr/>
        </p:nvSpPr>
        <p:spPr>
          <a:xfrm>
            <a:off x="640080" y="4709160"/>
            <a:ext cx="566928" cy="566928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4" name="t245"/>
          <p:cNvSpPr txBox="1"/>
          <p:nvPr/>
        </p:nvSpPr>
        <p:spPr>
          <a:xfrm>
            <a:off x="640080" y="47091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246" name="t247"/>
          <p:cNvSpPr txBox="1"/>
          <p:nvPr/>
        </p:nvSpPr>
        <p:spPr>
          <a:xfrm>
            <a:off x="1417320" y="470916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条件間比較・統合分析</a:t>
            </a:r>
          </a:p>
        </p:txBody>
      </p:sp>
      <p:sp>
        <p:nvSpPr>
          <p:cNvPr id="248" name="t249"/>
          <p:cNvSpPr txBox="1"/>
          <p:nvPr/>
        </p:nvSpPr>
        <p:spPr>
          <a:xfrm>
            <a:off x="5212080" y="4709160"/>
            <a:ext cx="658368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40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主観×生理×性能のトライアンギュレーション [15][26]</a:t>
            </a:r>
          </a:p>
        </p:txBody>
      </p:sp>
      <p:sp>
        <p:nvSpPr>
          <p:cNvPr id="250" name="r251"/>
          <p:cNvSpPr/>
          <p:nvPr/>
        </p:nvSpPr>
        <p:spPr>
          <a:xfrm>
            <a:off x="914400" y="5276088"/>
            <a:ext cx="31750" cy="256032"/>
          </a:xfrm>
          <a:prstGeom prst="rect">
            <a:avLst/>
          </a:prstGeom>
          <a:solidFill>
            <a:srgbClr val="C7D0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2" name="r253"/>
          <p:cNvSpPr/>
          <p:nvPr/>
        </p:nvSpPr>
        <p:spPr>
          <a:xfrm>
            <a:off x="640080" y="5532120"/>
            <a:ext cx="566928" cy="5669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4" name="t255"/>
          <p:cNvSpPr txBox="1"/>
          <p:nvPr/>
        </p:nvSpPr>
        <p:spPr>
          <a:xfrm>
            <a:off x="640080" y="55321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0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256" name="t257"/>
          <p:cNvSpPr txBox="1"/>
          <p:nvPr/>
        </p:nvSpPr>
        <p:spPr>
          <a:xfrm>
            <a:off x="1417320" y="5532120"/>
            <a:ext cx="3657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7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設計改善へ反映</a:t>
            </a:r>
          </a:p>
        </p:txBody>
      </p:sp>
      <p:sp>
        <p:nvSpPr>
          <p:cNvPr id="258" name="t259"/>
          <p:cNvSpPr txBox="1"/>
          <p:nvPr/>
        </p:nvSpPr>
        <p:spPr>
          <a:xfrm>
            <a:off x="5212080" y="5532120"/>
            <a:ext cx="658368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40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混合プロトタイプで反復改善 [01][07]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2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2" name="r263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4" name="r265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6" name="r267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8" name="t269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270" name="t271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センサ機材（非接触・低負担を最優先）</a:t>
            </a:r>
          </a:p>
        </p:txBody>
      </p:sp>
      <p:sp>
        <p:nvSpPr>
          <p:cNvPr id="272" name="t273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装着ストレスが生理指標へ混入する交絡を避ける</a:t>
            </a:r>
          </a:p>
        </p:txBody>
      </p:sp>
      <p:sp>
        <p:nvSpPr>
          <p:cNvPr id="274" name="r275"/>
          <p:cNvSpPr/>
          <p:nvPr/>
        </p:nvSpPr>
        <p:spPr>
          <a:xfrm>
            <a:off x="548640" y="1371600"/>
            <a:ext cx="3566160" cy="502920"/>
          </a:xfrm>
          <a:prstGeom prst="rect">
            <a:avLst/>
          </a:prstGeom>
          <a:solidFill>
            <a:srgbClr val="1B9E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6" name="t277"/>
          <p:cNvSpPr txBox="1"/>
          <p:nvPr/>
        </p:nvSpPr>
        <p:spPr>
          <a:xfrm>
            <a:off x="548640" y="137160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ランク1：非接触</a:t>
            </a:r>
          </a:p>
        </p:txBody>
      </p:sp>
      <p:sp>
        <p:nvSpPr>
          <p:cNvPr id="278" name="t279"/>
          <p:cNvSpPr txBox="1"/>
          <p:nvPr/>
        </p:nvSpPr>
        <p:spPr>
          <a:xfrm>
            <a:off x="640080" y="1920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ctr"/>
            <a:r>
              <a:rPr lang="ja-JP" sz="115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カメラ・レーダー・遠隔センサ（最優先）</a:t>
            </a:r>
          </a:p>
        </p:txBody>
      </p:sp>
      <p:sp>
        <p:nvSpPr>
          <p:cNvPr id="280" name="r281"/>
          <p:cNvSpPr/>
          <p:nvPr/>
        </p:nvSpPr>
        <p:spPr>
          <a:xfrm>
            <a:off x="4315968" y="1371600"/>
            <a:ext cx="3566160" cy="502920"/>
          </a:xfrm>
          <a:prstGeom prst="rect">
            <a:avLst/>
          </a:prstGeom>
          <a:solidFill>
            <a:srgbClr val="2E6C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2" name="t283"/>
          <p:cNvSpPr txBox="1"/>
          <p:nvPr/>
        </p:nvSpPr>
        <p:spPr>
          <a:xfrm>
            <a:off x="4315968" y="137160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ランク2：低装着感</a:t>
            </a:r>
          </a:p>
        </p:txBody>
      </p:sp>
      <p:sp>
        <p:nvSpPr>
          <p:cNvPr id="284" name="t285"/>
          <p:cNvSpPr txBox="1"/>
          <p:nvPr/>
        </p:nvSpPr>
        <p:spPr>
          <a:xfrm>
            <a:off x="4407408" y="1920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ctr"/>
            <a:r>
              <a:rPr lang="ja-JP" sz="115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リストバンド・指クリップ等（次点）</a:t>
            </a:r>
          </a:p>
        </p:txBody>
      </p:sp>
      <p:sp>
        <p:nvSpPr>
          <p:cNvPr id="286" name="r287"/>
          <p:cNvSpPr/>
          <p:nvPr/>
        </p:nvSpPr>
        <p:spPr>
          <a:xfrm>
            <a:off x="8083296" y="1371600"/>
            <a:ext cx="3566160" cy="502920"/>
          </a:xfrm>
          <a:prstGeom prst="rect">
            <a:avLst/>
          </a:prstGeom>
          <a:solidFill>
            <a:srgbClr val="555A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8" name="t289"/>
          <p:cNvSpPr txBox="1"/>
          <p:nvPr/>
        </p:nvSpPr>
        <p:spPr>
          <a:xfrm>
            <a:off x="8083296" y="1371600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14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ランク3：接触・要装着</a:t>
            </a:r>
          </a:p>
        </p:txBody>
      </p:sp>
      <p:sp>
        <p:nvSpPr>
          <p:cNvPr id="290" name="t291"/>
          <p:cNvSpPr txBox="1"/>
          <p:nvPr/>
        </p:nvSpPr>
        <p:spPr>
          <a:xfrm>
            <a:off x="8174736" y="1920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ctr"/>
            <a:r>
              <a:rPr lang="ja-JP" sz="1150" b="0" dirty="0">
                <a:solidFill>
                  <a:srgbClr val="555A60"/>
                </a:solidFill>
                <a:latin typeface="Meiryo"/>
                <a:ea typeface="Meiryo"/>
                <a:cs typeface="Meiryo"/>
              </a:rPr>
              <a:t>胸部/顔面電極（精査時のみ）</a:t>
            </a:r>
          </a:p>
        </p:txBody>
      </p:sp>
      <p:graphicFrame>
        <p:nvGraphicFramePr>
          <p:cNvPr id="292" name="tbl293"/>
          <p:cNvGraphicFramePr/>
          <p:nvPr/>
        </p:nvGraphicFramePr>
        <p:xfrm>
          <a:off x="548640" y="2514600"/>
          <a:ext cx="11064239" cy="2743200"/>
        </p:xfrm>
        <a:graphic>
          <a:graphicData uri="http://schemas.openxmlformats.org/drawingml/2006/table">
            <a:tbl>
              <a:tblPr firstRow="1" bandRow="1"/>
              <a:tblGrid>
                <a:gridCol w="1878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8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指標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第1候補（非接触/低負担）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300" b="1" dirty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負担度</a:t>
                      </a:r>
                    </a:p>
                  </a:txBody>
                  <a:tcPr marL="45720" marR="45720" marT="18288" marB="18288" anchor="ctr">
                    <a:solidFill>
                      <a:srgbClr val="2E6C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HRV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非接触rPPG（車内カメラ）／ミリ波レーダー／ステアリング埋込PPG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1〜2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EDA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ステアリング埋込／リストバンド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1〜2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視線・瞳孔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リモートアイトラッカー（非接触）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表情・情動価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カメラ表情解析（FACS/AU：喜びAU6/12・驚きAU1/2/5）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EA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運転/行動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シミュレータログ・CANバス・車内カメラ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50" b="0" dirty="0">
                          <a:solidFill>
                            <a:srgbClr val="2B2E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2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6" name="r297"/>
          <p:cNvSpPr/>
          <p:nvPr/>
        </p:nvSpPr>
        <p:spPr>
          <a:xfrm>
            <a:off x="0" y="0"/>
            <a:ext cx="12192000" cy="10241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8" name="r299"/>
          <p:cNvSpPr/>
          <p:nvPr/>
        </p:nvSpPr>
        <p:spPr>
          <a:xfrm>
            <a:off x="0" y="1024128"/>
            <a:ext cx="12192000" cy="508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r301"/>
          <p:cNvSpPr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3"/>
          <p:cNvSpPr txBox="1"/>
          <p:nvPr/>
        </p:nvSpPr>
        <p:spPr>
          <a:xfrm>
            <a:off x="411480" y="21945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ja-JP" sz="22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304" name="t305"/>
          <p:cNvSpPr txBox="1"/>
          <p:nvPr/>
        </p:nvSpPr>
        <p:spPr>
          <a:xfrm>
            <a:off x="1170432" y="128016"/>
            <a:ext cx="10515600" cy="60350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2500" b="1" dirty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実験計画と統計解析</a:t>
            </a:r>
          </a:p>
        </p:txBody>
      </p:sp>
      <p:sp>
        <p:nvSpPr>
          <p:cNvPr id="306" name="t307"/>
          <p:cNvSpPr txBox="1"/>
          <p:nvPr/>
        </p:nvSpPr>
        <p:spPr>
          <a:xfrm>
            <a:off x="1188720" y="67665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rmAutofit/>
          </a:bodyPr>
          <a:lstStyle/>
          <a:p>
            <a:pPr algn="l"/>
            <a:r>
              <a:rPr lang="ja-JP" sz="1250" b="0" dirty="0">
                <a:solidFill>
                  <a:srgbClr val="C7D4E8"/>
                </a:solidFill>
                <a:latin typeface="Meiryo"/>
                <a:ea typeface="Meiryo"/>
                <a:cs typeface="Meiryo"/>
              </a:rPr>
              <a:t>被験者内反復測定 × 混合効果モデルで頑健に評価</a:t>
            </a:r>
          </a:p>
        </p:txBody>
      </p:sp>
      <p:sp>
        <p:nvSpPr>
          <p:cNvPr id="308" name="t309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5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5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実験計画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被験者内反復測定（within-subject）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順序効果はラテン方格で相殺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目安サンプルサイズ 約30名（中程度の効果量）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5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500" b="1" dirty="0">
                <a:solidFill>
                  <a:srgbClr val="1F3864"/>
                </a:solidFill>
                <a:latin typeface="Meiryo"/>
                <a:ea typeface="Meiryo"/>
                <a:cs typeface="Meiryo"/>
              </a:rPr>
              <a:t>前処理・特徴量抽出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HRV：異常拍除去→補間→時間領域算出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EDA：位相性(SCR)/持続性(SCL)に分解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表情：AU抽出、笑筋−皺眉筋の差分＝感情価</a:t>
            </a:r>
          </a:p>
        </p:txBody>
      </p:sp>
      <p:sp>
        <p:nvSpPr>
          <p:cNvPr id="310" name="t311"/>
          <p:cNvSpPr txBox="1"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5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500" b="1" dirty="0">
                <a:solidFill>
                  <a:srgbClr val="E87A1E"/>
                </a:solidFill>
                <a:latin typeface="Meiryo"/>
                <a:ea typeface="Meiryo"/>
                <a:cs typeface="Meiryo"/>
              </a:rPr>
              <a:t>統計手法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正規性成立：反復測定分散分析(RM-ANOVA)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非成立/順序尺度：Friedman＋Wilcoxon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効果量（partial η²・Cohen's d）を必ず併記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500" b="1" dirty="0">
                <a:solidFill>
                  <a:srgbClr val="2E6CB5"/>
                </a:solidFill>
                <a:latin typeface="Meiryo"/>
                <a:ea typeface="Meiryo"/>
                <a:cs typeface="Meiryo"/>
              </a:rPr>
              <a:t>●  </a:t>
            </a:r>
            <a:r>
              <a:rPr lang="ja-JP" sz="1500" b="1" dirty="0">
                <a:solidFill>
                  <a:srgbClr val="E87A1E"/>
                </a:solidFill>
                <a:latin typeface="Meiryo"/>
                <a:ea typeface="Meiryo"/>
                <a:cs typeface="Meiryo"/>
              </a:rPr>
              <a:t>推奨：線形混合モデル（LMM）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RMSSD ~ HMI * Scenario + Baseline + (1|Subject)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欠損・被験者ネストに頑健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lang="ja-JP" sz="1300" b="1" dirty="0">
                <a:solidFill>
                  <a:srgbClr val="9AA3AD"/>
                </a:solidFill>
                <a:latin typeface="Meiryo"/>
                <a:ea typeface="Meiryo"/>
                <a:cs typeface="Meiryo"/>
              </a:rPr>
              <a:t>－  </a:t>
            </a:r>
            <a:r>
              <a:rPr lang="ja-JP" sz="1300" b="0" dirty="0">
                <a:solidFill>
                  <a:srgbClr val="2B2E33"/>
                </a:solidFill>
                <a:latin typeface="Meiryo"/>
                <a:ea typeface="Meiryo"/>
                <a:cs typeface="Meiryo"/>
              </a:rPr>
              <a:t>多指標統合：PCA/LASSO、LOSO交差検証、FDR補正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8F0FA"/>
      </a:lt2>
      <a:accent1>
        <a:srgbClr val="2E6CB5"/>
      </a:accent1>
      <a:accent2>
        <a:srgbClr val="E87A1E"/>
      </a:accent2>
      <a:accent3>
        <a:srgbClr val="1B9E8C"/>
      </a:accent3>
      <a:accent4>
        <a:srgbClr val="7B5EA7"/>
      </a:accent4>
      <a:accent5>
        <a:srgbClr val="C04A6E"/>
      </a:accent5>
      <a:accent6>
        <a:srgbClr val="555A60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</a:majorFont>
      <a:minorFont>
        <a:latin typeface="Meiryo"/>
        <a:ea typeface="Meiryo"/>
        <a:cs typeface="Meiryo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1651</Words>
  <Application>Microsoft Office PowerPoint</Application>
  <PresentationFormat>ワイド画面</PresentationFormat>
  <Paragraphs>223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4" baseType="lpstr">
      <vt:lpstr>Meiryo</vt:lpstr>
      <vt:lpstr>Arial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自動車HMIのUX評価方法</dc:title>
  <dc:creator>UX評価チーム</dc:creator>
  <cp:lastModifiedBy>Ueno, Takashi/上野 貴志</cp:lastModifiedBy>
  <cp:revision>1</cp:revision>
  <dcterms:modified xsi:type="dcterms:W3CDTF">2026-07-02T08:15:03Z</dcterms:modified>
</cp:coreProperties>
</file>